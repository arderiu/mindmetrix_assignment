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NDi6YqwxAtrfNSabSPf9UsDiV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e8d20f38b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ce8d20f38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ce8d20f38b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e8d20f38b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ce8d20f38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ce8d20f38b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8d20f38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ce8d20f38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ce8d20f38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e8d20f38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ce8d20f38b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e8d20f38b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8d20f38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ce8d20f38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e8d20f38b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8d20f38b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ce8d20f38b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ce8d20f38b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e8d20f38b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e8d20f38b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e8d20f38b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8d20f38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ce8d20f38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e8d20f38b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8d20f38b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ce8d20f38b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e8d20f38b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e8d20f38b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e8d20f38b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ce8d20f38b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e8d20f38b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e8d20f38b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e8d20f38b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e8d20f38b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e8d20f38b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e8d20f38b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8d20f38b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e8d20f38b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e8d20f38b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C8E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8FB5"/>
          </a:solidFill>
          <a:ln cap="flat" cmpd="sng" w="12700">
            <a:solidFill>
              <a:srgbClr val="5A8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653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Scientist Interview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09719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Technical Challenge </a:t>
            </a:r>
            <a:r>
              <a:rPr b="0" i="1" lang="en-US" sz="1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Results, 12/03/2026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971800" y="2743595"/>
            <a:ext cx="320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1" lang="en-US" sz="1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ANDREU ARDERIU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850" y="3232940"/>
            <a:ext cx="2142258" cy="177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 flipH="1">
            <a:off x="963325" y="1599050"/>
            <a:ext cx="68337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Problem framing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Data preprocessing (cleaning)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Feature engineering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Correlations and sensitivity analysis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PCA and feature reduction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Clustering and profiling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AutoNum type="arabicPeriod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Limitations &amp; next steps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ce8d20f38b_0_3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ce8d20f38b_0_30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framing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ce8d20f38b_0_30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ce8d20f38b_0_30"/>
          <p:cNvSpPr txBox="1"/>
          <p:nvPr/>
        </p:nvSpPr>
        <p:spPr>
          <a:xfrm flipH="1">
            <a:off x="636150" y="1435475"/>
            <a:ext cx="77235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Time series: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Physiological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: Gaze, pulse physiological time series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: ppg_QI, motiong quality time series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Tabular data: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: STAI_T/S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data</a:t>
            </a:r>
            <a:r>
              <a:rPr b="1" lang="en-US" sz="21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Gender, Handedness, Glasses, BloodType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: link time series data with the target.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e8d20f38b_0_2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ce8d20f38b_0_22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Preprocessing (cleaning)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ce8d20f38b_0_22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ce8d20f38b_0_22"/>
          <p:cNvSpPr txBox="1"/>
          <p:nvPr/>
        </p:nvSpPr>
        <p:spPr>
          <a:xfrm flipH="1">
            <a:off x="963725" y="1599050"/>
            <a:ext cx="7778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Duplicate timestamps: 14.5% of the rows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Tracking artifacts (pupil size, gaze) : 15.13% of rows 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Low PPG quality            Unreliable HR values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g3ce8d20f38b_0_22"/>
          <p:cNvPicPr preferRelativeResize="0"/>
          <p:nvPr/>
        </p:nvPicPr>
        <p:blipFill rotWithShape="1">
          <a:blip r:embed="rId3">
            <a:alphaModFix/>
          </a:blip>
          <a:srcRect b="35666" l="0" r="0" t="0"/>
          <a:stretch/>
        </p:blipFill>
        <p:spPr>
          <a:xfrm>
            <a:off x="1179713" y="2753450"/>
            <a:ext cx="6093924" cy="221729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ce8d20f38b_0_22"/>
          <p:cNvSpPr/>
          <p:nvPr/>
        </p:nvSpPr>
        <p:spPr>
          <a:xfrm>
            <a:off x="3373650" y="2432750"/>
            <a:ext cx="518100" cy="13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8d20f38b_0_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ce8d20f38b_0_1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EDA - Metadata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ce8d20f38b_0_1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g3ce8d20f38b_0_1"/>
          <p:cNvPicPr preferRelativeResize="0"/>
          <p:nvPr/>
        </p:nvPicPr>
        <p:blipFill rotWithShape="1">
          <a:blip r:embed="rId3">
            <a:alphaModFix/>
          </a:blip>
          <a:srcRect b="0" l="0" r="33691" t="0"/>
          <a:stretch/>
        </p:blipFill>
        <p:spPr>
          <a:xfrm>
            <a:off x="364971" y="1157475"/>
            <a:ext cx="4651299" cy="19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ce8d20f38b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775" y="3256725"/>
            <a:ext cx="5980126" cy="16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ce8d20f38b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7928" y="1367850"/>
            <a:ext cx="3139872" cy="15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e8d20f38b_0_1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e8d20f38b_0_12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EDA - Physiological Signal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ce8d20f38b_0_12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g3ce8d20f38b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875" y="1149200"/>
            <a:ext cx="6748848" cy="383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8d20f38b_0_4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ce8d20f38b_0_41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ce8d20f38b_0_41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ce8d20f38b_0_41"/>
          <p:cNvSpPr txBox="1"/>
          <p:nvPr/>
        </p:nvSpPr>
        <p:spPr>
          <a:xfrm flipH="1">
            <a:off x="573300" y="1201000"/>
            <a:ext cx="7997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Mean and std of all features (pupil, gaze, motion, QI) are computed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Subject x Trial x Phase.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ce8d20f38b_0_41"/>
          <p:cNvSpPr txBox="1"/>
          <p:nvPr/>
        </p:nvSpPr>
        <p:spPr>
          <a:xfrm>
            <a:off x="573300" y="2370100"/>
            <a:ext cx="5249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transformed features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Gaze velocity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Gaze angles (pitch &amp; yaw)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Cross-trial aggregation features: 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Mean, std and trend across trials.</a:t>
            </a:r>
            <a:endParaRPr/>
          </a:p>
        </p:txBody>
      </p:sp>
      <p:sp>
        <p:nvSpPr>
          <p:cNvPr id="80" name="Google Shape;80;g3ce8d20f38b_0_41"/>
          <p:cNvSpPr txBox="1"/>
          <p:nvPr/>
        </p:nvSpPr>
        <p:spPr>
          <a:xfrm>
            <a:off x="4882500" y="2370100"/>
            <a:ext cx="417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delta features: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relax-baseline (down-regulation)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break-baseline (recovery proxy)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e8d20f38b_0_41"/>
          <p:cNvSpPr/>
          <p:nvPr/>
        </p:nvSpPr>
        <p:spPr>
          <a:xfrm>
            <a:off x="5331125" y="4126800"/>
            <a:ext cx="2630070" cy="628074"/>
          </a:xfrm>
          <a:prstGeom prst="flowChartTerminator">
            <a:avLst/>
          </a:prstGeom>
          <a:solidFill>
            <a:srgbClr val="A8C8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Total 132 features</a:t>
            </a:r>
            <a:endParaRPr b="1" sz="21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e8d20f38b_0_12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ce8d20f38b_0_125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Biomarker sensitivity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ce8d20f38b_0_125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e8d20f38b_0_125"/>
          <p:cNvSpPr txBox="1"/>
          <p:nvPr/>
        </p:nvSpPr>
        <p:spPr>
          <a:xfrm>
            <a:off x="338600" y="1574175"/>
            <a:ext cx="6785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Wilcoxon + Cohen’s statistical tests: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Pupil diameter: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 on relaxation, mild recovery on break.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Heart rate: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reduction on relaxation, recovery on break.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Gaze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Yaw pitch spread increase during relaxation.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Trend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trend effect found across trials.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g3ce8d20f38b_0_125"/>
          <p:cNvPicPr preferRelativeResize="0"/>
          <p:nvPr/>
        </p:nvPicPr>
        <p:blipFill rotWithShape="1">
          <a:blip r:embed="rId3">
            <a:alphaModFix/>
          </a:blip>
          <a:srcRect b="0" l="0" r="74840" t="0"/>
          <a:stretch/>
        </p:blipFill>
        <p:spPr>
          <a:xfrm>
            <a:off x="6886248" y="1487900"/>
            <a:ext cx="2166427" cy="27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8d20f38b_0_138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ce8d20f38b_0_138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- Metadata correlations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ce8d20f38b_0_138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ce8d20f38b_0_138"/>
          <p:cNvSpPr txBox="1"/>
          <p:nvPr/>
        </p:nvSpPr>
        <p:spPr>
          <a:xfrm>
            <a:off x="535500" y="1373200"/>
            <a:ext cx="6785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STAI_S/T: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Positive correlation with pupil diameter baseline and reductions (relax &amp; break).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 present higher resting heart rate.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Blood types: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B mildly lower anxiety levels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3ce8d20f38b_0_138"/>
          <p:cNvPicPr preferRelativeResize="0"/>
          <p:nvPr/>
        </p:nvPicPr>
        <p:blipFill rotWithShape="1">
          <a:blip r:embed="rId3">
            <a:alphaModFix/>
          </a:blip>
          <a:srcRect b="0" l="0" r="50155" t="8717"/>
          <a:stretch/>
        </p:blipFill>
        <p:spPr>
          <a:xfrm>
            <a:off x="1709275" y="3003875"/>
            <a:ext cx="4227526" cy="19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Dimensionality reduction - PCA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 flipH="1">
            <a:off x="573300" y="1201000"/>
            <a:ext cx="799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Need 27 PCA components for 80% explained variance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49331" t="0"/>
          <a:stretch/>
        </p:blipFill>
        <p:spPr>
          <a:xfrm>
            <a:off x="379875" y="1861300"/>
            <a:ext cx="4311550" cy="27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49385" t="0"/>
          <a:stretch/>
        </p:blipFill>
        <p:spPr>
          <a:xfrm>
            <a:off x="4896675" y="1861300"/>
            <a:ext cx="3967471" cy="27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e8d20f38b_0_6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ce8d20f38b_0_61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KMeans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e8d20f38b_0_61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ce8d20f38b_0_61"/>
          <p:cNvPicPr preferRelativeResize="0"/>
          <p:nvPr/>
        </p:nvPicPr>
        <p:blipFill rotWithShape="1">
          <a:blip r:embed="rId3">
            <a:alphaModFix/>
          </a:blip>
          <a:srcRect b="0" l="50049" r="791" t="0"/>
          <a:stretch/>
        </p:blipFill>
        <p:spPr>
          <a:xfrm>
            <a:off x="270125" y="1827775"/>
            <a:ext cx="4338901" cy="28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ce8d20f38b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617" y="1827775"/>
            <a:ext cx="4049058" cy="28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ce8d20f38b_0_61"/>
          <p:cNvSpPr txBox="1"/>
          <p:nvPr/>
        </p:nvSpPr>
        <p:spPr>
          <a:xfrm flipH="1">
            <a:off x="573300" y="1201000"/>
            <a:ext cx="799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Weak clustering, optimal choice K=3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e8d20f38b_0_7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ce8d20f38b_0_74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Clustering - </a:t>
            </a: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group profiles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ce8d20f38b_0_74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ce8d20f38b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50" y="1539650"/>
            <a:ext cx="8932699" cy="31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e8d20f38b_0_8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e8d20f38b_0_87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Clustering - group profiles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e8d20f38b_0_87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ce8d20f38b_0_87"/>
          <p:cNvSpPr txBox="1"/>
          <p:nvPr/>
        </p:nvSpPr>
        <p:spPr>
          <a:xfrm>
            <a:off x="457200" y="1370025"/>
            <a:ext cx="7502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0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baseline pupil size,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STAI_T, motion, and worse PPG quality.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1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High gaze variability.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2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Strongest pupil constriction and HR drop during relaxation, lowest anxiety scores.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8d20f38b_0_98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e8d20f38b_0_98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e8d20f38b_0_98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e8d20f38b_0_98"/>
          <p:cNvSpPr txBox="1"/>
          <p:nvPr/>
        </p:nvSpPr>
        <p:spPr>
          <a:xfrm>
            <a:off x="457200" y="1370025"/>
            <a:ext cx="7502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Pupil dynamics reflect both relaxation and anxiety differences.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Gaze behavior reveals heterogeneous participant response profiles.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Heart rate reflects the relaxation effect, but appears less sensitive to individual anxiety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e8d20f38b_0_11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e8d20f38b_0_117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Limitations &amp; 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ce8d20f38b_0_117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ce8d20f38b_0_117"/>
          <p:cNvSpPr txBox="1"/>
          <p:nvPr/>
        </p:nvSpPr>
        <p:spPr>
          <a:xfrm>
            <a:off x="457200" y="1370025"/>
            <a:ext cx="7502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Investigate tracking artifacts - proper processing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Investigate time-series (DL) approach for a richer feature space.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predictive modelling (e.g XGBoost) for better feature selection.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Revisit protocol (5s baseline/break might be too short)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sources of data (e.g whole PPG)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D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e8d20f38b_0_16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A8C8E8"/>
          </a:solidFill>
          <a:ln cap="flat" cmpd="sng" w="12700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e8d20f38b_0_161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[Extra] - Backend integration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e8d20f38b_0_161"/>
          <p:cNvSpPr/>
          <p:nvPr/>
        </p:nvSpPr>
        <p:spPr>
          <a:xfrm>
            <a:off x="8595360" y="475488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AE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AE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ce8d20f38b_0_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725" y="1131050"/>
            <a:ext cx="4158303" cy="38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e8d20f38b_0_161"/>
          <p:cNvSpPr txBox="1"/>
          <p:nvPr/>
        </p:nvSpPr>
        <p:spPr>
          <a:xfrm>
            <a:off x="456675" y="1565750"/>
            <a:ext cx="3914400" cy="3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anonymization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Granular control access, GDPR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odel/data versioning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Unit/integration tests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C8E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5A8FB5"/>
          </a:solidFill>
          <a:ln cap="flat" cmpd="sng" w="12700">
            <a:solidFill>
              <a:srgbClr val="5A8F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57200" y="39319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Andreu Arderiu</a:t>
            </a:r>
            <a:r>
              <a:rPr b="0" i="1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i="1"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arderiubcn@gmail.com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2026-03-10T12:52:23Z</dcterms:created>
  <dc:creator>PptxGenJS</dc:creator>
</cp:coreProperties>
</file>